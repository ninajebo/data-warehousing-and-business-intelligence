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9"/>
    <p:sldId id="259" r:id="rId5"/>
    <p:sldId id="260" r:id="rId6"/>
    <p:sldId id="269" r:id="rId20"/>
    <p:sldId id="261" r:id="rId7"/>
    <p:sldId id="262" r:id="rId8"/>
    <p:sldId id="263" r:id="rId9"/>
    <p:sldId id="264" r:id="rId10"/>
    <p:sldId id="270" r:id="rId21"/>
    <p:sldId id="265" r:id="rId11"/>
    <p:sldId id="266" r:id="rId12"/>
    <p:sldId id="271" r:id="rId2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E6F"/>
                </a:solidFill>
                <a:latin typeface="Trebuchet MS"/>
              </a:defRPr>
            </a:pPr>
            <a:r>
              <a:rPr sz="1100" b="0" i="0" u="none" strike="noStrike">
                <a:solidFill>
                  <a:srgbClr val="1A2E6F"/>
                </a:solidFill>
                <a:latin typeface="Trebuchet MS"/>
              </a:rPr>
              <a:t>Hit Rate by Genre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 Rate (%)</c:v>
                </c:pt>
              </c:strCache>
            </c:strRef>
          </c:tx>
          <c:spPr>
            <a:solidFill>
              <a:srgbClr val="C89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90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2E6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DB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CCCC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Gospel</c:v>
                  </c:pt>
                  <c:pt idx="1">
                    <c:v>Afropop</c:v>
                  </c:pt>
                  <c:pt idx="2">
                    <c:v>Dancehall</c:v>
                  </c:pt>
                  <c:pt idx="3">
                    <c:v>Hip Hop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52.3</c:v>
                </c:pt>
                <c:pt idx="1">
                  <c:v>36.3</c:v>
                </c:pt>
                <c:pt idx="2">
                  <c:v>16.7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E6F"/>
                </a:solidFill>
                <a:latin typeface="Trebuchet MS"/>
              </a:defRPr>
            </a:pPr>
            <a:r>
              <a:rPr sz="1100" b="0" i="0" u="none" strike="noStrike">
                <a:solidFill>
                  <a:srgbClr val="1A2E6F"/>
                </a:solidFill>
                <a:latin typeface="Trebuchet MS"/>
              </a:rPr>
              <a:t>Hit Rate by Era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 Rate (%)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2E6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2000s</c:v>
                  </c:pt>
                  <c:pt idx="1">
                    <c:v>2010s</c:v>
                  </c:pt>
                  <c:pt idx="2">
                    <c:v>2020s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18.5</c:v>
                </c:pt>
                <c:pt idx="1">
                  <c:v>39.3</c:v>
                </c:pt>
                <c:pt idx="2">
                  <c:v>39.7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Music Analytics Data Warehouse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Commercial Success Prediction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0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Intelligence Framework for the Ugandan Music Industry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971800"/>
            <a:ext cx="6400800" cy="0"/>
          </a:xfrm>
          <a:prstGeom prst="line">
            <a:avLst/>
          </a:prstGeom>
          <a:noFill/>
          <a:ln w="12700">
            <a:solidFill>
              <a:srgbClr val="C890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54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 Philbert  ·  Kato Kibirige Agathone  ·  Batuuka Samuel Aubrey  ·  Kakembo Bonifance Joshua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3201 — Data Warehousing &amp; Business Intelligence  |  Makerere University  |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475488" cy="475488"/>
          </a:xfrm>
          <a:prstGeom prst="rect">
            <a:avLst/>
          </a:prstGeom>
          <a:solidFill>
            <a:srgbClr val="1A2E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&amp;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3990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gap in Uganda's music industry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475488" cy="475488"/>
          </a:xfrm>
          <a:prstGeom prst="rect">
            <a:avLst/>
          </a:prstGeom>
          <a:solidFill>
            <a:srgbClr val="1A2E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achieve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971800"/>
            <a:ext cx="475488" cy="475488"/>
          </a:xfrm>
          <a:prstGeom prst="rect">
            <a:avLst/>
          </a:prstGeom>
          <a:solidFill>
            <a:srgbClr val="1A2E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Methodology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2278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features, and the ETL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886200"/>
            <a:ext cx="475488" cy="475488"/>
          </a:xfrm>
          <a:prstGeom prst="rect">
            <a:avLst/>
          </a:prstGeom>
          <a:solidFill>
            <a:srgbClr val="1A2E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 Schema Design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142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architecture and table structure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143000"/>
            <a:ext cx="475488" cy="475488"/>
          </a:xfrm>
          <a:prstGeom prst="rect">
            <a:avLst/>
          </a:prstGeom>
          <a:solidFill>
            <a:srgbClr val="1A2E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OLAP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13990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Slice, dice, drill-down, cross-tab 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057400"/>
            <a:ext cx="475488" cy="475488"/>
          </a:xfrm>
          <a:prstGeom prst="rect">
            <a:avLst/>
          </a:prstGeom>
          <a:solidFill>
            <a:srgbClr val="1A2E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52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BI Insights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findings for the industry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971800"/>
            <a:ext cx="475488" cy="475488"/>
          </a:xfrm>
          <a:prstGeom prst="rect">
            <a:avLst/>
          </a:prstGeom>
          <a:solidFill>
            <a:srgbClr val="1A2E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2278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artists, labels, research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&amp; 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Uganda's music industry is booming — but decision-making is still data-blind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industry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Uganda's music sector is worth billions of shillings annually, with artists attracting millions of YouTube views and major sponsorships.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production budgets, marketing spend, and release timing are still driven by personal taste — not evidence.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structured analytical tool to tell a producer: this song sounds like a hit.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60520" cy="3383280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Gap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warehouse of music features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OLAP tools for trend analysis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hit-rate benchmarks by genre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artist performance rankings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decade-level trend visibility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658368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1124712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star schema DW from 2,018 Ugandan tracks spanning 2000–2026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19656"/>
            <a:ext cx="850392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19656"/>
            <a:ext cx="54864" cy="658368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928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ETL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892808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Extract–Transform–Load pipeline from flat Excel → SQLite warehouse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587752"/>
            <a:ext cx="850392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87752"/>
            <a:ext cx="54864" cy="6583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6090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OLAP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2660904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slice, dice, drill-down, and cross-tab queries on the warehouse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355848"/>
            <a:ext cx="850392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55848"/>
            <a:ext cx="54864" cy="65836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290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B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BI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429000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dashboard for visual decision support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123944"/>
            <a:ext cx="850392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123944"/>
            <a:ext cx="54864" cy="658368"/>
          </a:xfrm>
          <a:prstGeom prst="rect">
            <a:avLst/>
          </a:prstGeom>
          <a:solidFill>
            <a:srgbClr val="6B7DB3"/>
          </a:solidFill>
          <a:ln w="12700">
            <a:solidFill>
              <a:srgbClr val="6B7D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9709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D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4197096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actionable intelligence for artists, producers, and label executives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Feature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final_features_v2.xlsx  —  2,018 Ugandan tracks  ·  36 engineered features per track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20240" cy="118872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075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2,018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984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tracks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95728" y="1234440"/>
            <a:ext cx="1920240" cy="118872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13075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7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395728" y="1984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tracks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17136" y="1234440"/>
            <a:ext cx="1920240" cy="118872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3075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4B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1,278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17136" y="1984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 tracks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38544" y="1234440"/>
            <a:ext cx="1920240" cy="118872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13075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638544" y="1984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artists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6334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 Features per track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71800"/>
            <a:ext cx="64008" cy="1874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3063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Audio Features (librosa)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" y="3355848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BPM · Tempo stability · Beat strength · Onset rate · Rhythmic complexity · RMS energy · Spectral centroid · Spectral bandwidth · Zero crossing rate · Low freq energy · Danceability proxy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71800"/>
            <a:ext cx="64008" cy="187452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3063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B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Lyric Features (Whisper + VADER)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91456" y="3355848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· Unique word ratio · Repetition rate · Readability · Sentiment compound/positive/negative/neutral · Topic diversity · Verse count · Chorus repetition · Concrete word ratio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ETL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 into the star schema SQLite warehouse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560320" cy="347472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560320" cy="5303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9768" y="1783080"/>
            <a:ext cx="2340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audio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transcripts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(artist, year, views)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final_features_v2.xlsx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98648" y="2880360"/>
            <a:ext cx="256032" cy="0"/>
          </a:xfrm>
          <a:prstGeom prst="line">
            <a:avLst/>
          </a:prstGeom>
          <a:noFill/>
          <a:ln w="25400">
            <a:solidFill>
              <a:srgbClr val="C89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143000"/>
            <a:ext cx="2560320" cy="347472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143000"/>
            <a:ext cx="2560320" cy="530352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1430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64408" y="1783080"/>
            <a:ext cx="2340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inference (keyword rules)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mapping (2000s/2010s/2020s)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fill (266 missing artists)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 generation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33288" y="2880360"/>
            <a:ext cx="256032" cy="0"/>
          </a:xfrm>
          <a:prstGeom prst="line">
            <a:avLst/>
          </a:prstGeom>
          <a:noFill/>
          <a:ln w="25400">
            <a:solidFill>
              <a:srgbClr val="C890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143000"/>
            <a:ext cx="2560320" cy="347472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143000"/>
            <a:ext cx="2560320" cy="530352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1430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099048" y="1783080"/>
            <a:ext cx="2340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 first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(FK constraint order)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— 2,018 rows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table — 10 entries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music_warehouse.db  (SQLite · 2,018 rows · 6 tables)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 Schema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dimensional model  ·  1 fact table  ·  5 dimension tables  ·  1 metadata table  ·  Grain: one track per row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999232" y="914400"/>
            <a:ext cx="3145536" cy="3730752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99232" y="950976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fact_predictions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99232" y="1271016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2,018 rows  ·  36 features  ·  5 FK columns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54096" y="1508760"/>
            <a:ext cx="3035808" cy="310896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15361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fact_key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5072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0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4773168" y="153619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 (auto-inc)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054096" y="1842516"/>
            <a:ext cx="3035808" cy="310896"/>
          </a:xfrm>
          <a:prstGeom prst="rect">
            <a:avLst/>
          </a:prstGeom>
          <a:solidFill>
            <a:srgbClr val="162666"/>
          </a:solidFill>
          <a:ln w="12700">
            <a:solidFill>
              <a:srgbClr val="162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8699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song_key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05072" y="18699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0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FK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773168" y="18699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dim_song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054096" y="2176272"/>
            <a:ext cx="3035808" cy="310896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220370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artist_key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05072" y="22037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0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FK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773168" y="220370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dim_artist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054096" y="2510028"/>
            <a:ext cx="3035808" cy="310896"/>
          </a:xfrm>
          <a:prstGeom prst="rect">
            <a:avLst/>
          </a:prstGeom>
          <a:solidFill>
            <a:srgbClr val="162666"/>
          </a:solidFill>
          <a:ln w="12700">
            <a:solidFill>
              <a:srgbClr val="1626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25374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genre_key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05072" y="25374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0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FK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773168" y="25374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dim_genre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054096" y="2843784"/>
            <a:ext cx="3035808" cy="310896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287121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05072" y="28712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0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FK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773168" y="287121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dim_date (year)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054096" y="3177540"/>
            <a:ext cx="3035808" cy="310896"/>
          </a:xfrm>
          <a:prstGeom prst="rect">
            <a:avLst/>
          </a:prstGeom>
          <a:solidFill>
            <a:srgbClr val="162666"/>
          </a:solidFill>
          <a:ln w="12700">
            <a:solidFill>
              <a:srgbClr val="1626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0672" y="320497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label_key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05072" y="32049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0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FK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773168" y="320497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dim_label 0/1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4096" y="3511296"/>
            <a:ext cx="3035808" cy="310896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0672" y="35387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05072" y="35387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0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773168" y="353872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view count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054096" y="3845052"/>
            <a:ext cx="3035808" cy="310896"/>
          </a:xfrm>
          <a:prstGeom prst="rect">
            <a:avLst/>
          </a:prstGeom>
          <a:solidFill>
            <a:srgbClr val="162666"/>
          </a:solidFill>
          <a:ln w="12700">
            <a:solidFill>
              <a:srgbClr val="1626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0672" y="387248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audio...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05072" y="38724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0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x18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4773168" y="387248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tempo, rms, spectral...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054096" y="4178808"/>
            <a:ext cx="3035808" cy="310896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90672" y="420624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lyric...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05072" y="4206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0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x18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773168" y="420624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vocab...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072384" y="441655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0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one music track · one prediction event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64592" y="822960"/>
            <a:ext cx="2615184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64592" y="822960"/>
            <a:ext cx="2615184" cy="3383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83210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dim_song  (2,018 rows)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01168" y="1188720"/>
            <a:ext cx="2542032" cy="237744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1207008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song_key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1262969" y="1207008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01168" y="1453896"/>
            <a:ext cx="2542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1472184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video_id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1262969" y="1472184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01168" y="1719072"/>
            <a:ext cx="2542032" cy="237744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1737360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1262969" y="1737360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01168" y="1984248"/>
            <a:ext cx="2542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" y="2002536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artist_key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1262969" y="2002536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FK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021373" y="2002536"/>
            <a:ext cx="70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dim_artist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01168" y="2249424"/>
            <a:ext cx="2542032" cy="237744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2267712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genre_key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1262969" y="2267712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FK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021373" y="2267712"/>
            <a:ext cx="70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dim_genre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01168" y="2514600"/>
            <a:ext cx="2542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28600" y="2532888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1262969" y="2532888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FK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021373" y="2532888"/>
            <a:ext cx="70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dim_date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364224" y="822960"/>
            <a:ext cx="261518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8902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364224" y="822960"/>
            <a:ext cx="2615184" cy="338328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28232" y="83210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dim_genre  (4 rows)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400800" y="1188720"/>
            <a:ext cx="2542032" cy="237744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28232" y="1207008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genre_key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7462601" y="1207008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400800" y="1453896"/>
            <a:ext cx="2542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28232" y="1472184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genre_name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7462601" y="1472184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UNIQUE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221005" y="1472184"/>
            <a:ext cx="70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Afropop/Gospel/Dancehall/Hip Hop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164592" y="2926080"/>
            <a:ext cx="261518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64592" y="2926080"/>
            <a:ext cx="2615184" cy="33832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8600" y="293522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dim_artist  (621 rows)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01168" y="3291840"/>
            <a:ext cx="2542032" cy="237744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8600" y="3310128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artist_key</a:t>
            </a:r>
            <a:endParaRPr lang="en-US" sz="780" dirty="0"/>
          </a:p>
        </p:txBody>
      </p:sp>
      <p:sp>
        <p:nvSpPr>
          <p:cNvPr id="84" name="Text 82"/>
          <p:cNvSpPr/>
          <p:nvPr/>
        </p:nvSpPr>
        <p:spPr>
          <a:xfrm>
            <a:off x="1262969" y="3310128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01168" y="3557016"/>
            <a:ext cx="2542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8600" y="3575304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artist_name</a:t>
            </a:r>
            <a:endParaRPr lang="en-US" sz="780" dirty="0"/>
          </a:p>
        </p:txBody>
      </p:sp>
      <p:sp>
        <p:nvSpPr>
          <p:cNvPr id="87" name="Text 85"/>
          <p:cNvSpPr/>
          <p:nvPr/>
        </p:nvSpPr>
        <p:spPr>
          <a:xfrm>
            <a:off x="1262969" y="3575304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UNIQUE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2021373" y="3575304"/>
            <a:ext cx="70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621 unique artists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364224" y="2304288"/>
            <a:ext cx="26151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364224" y="2304288"/>
            <a:ext cx="2615184" cy="3383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428232" y="231343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dim_label  (2 rows)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400800" y="2670048"/>
            <a:ext cx="2542032" cy="237744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28232" y="2688336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label_key</a:t>
            </a:r>
            <a:endParaRPr lang="en-US" sz="780" dirty="0"/>
          </a:p>
        </p:txBody>
      </p:sp>
      <p:sp>
        <p:nvSpPr>
          <p:cNvPr id="94" name="Text 92"/>
          <p:cNvSpPr/>
          <p:nvPr/>
        </p:nvSpPr>
        <p:spPr>
          <a:xfrm>
            <a:off x="7462601" y="2688336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400800" y="2935224"/>
            <a:ext cx="2542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28232" y="2953512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label_name</a:t>
            </a:r>
            <a:endParaRPr lang="en-US" sz="780" dirty="0"/>
          </a:p>
        </p:txBody>
      </p:sp>
      <p:sp>
        <p:nvSpPr>
          <p:cNvPr id="97" name="Text 95"/>
          <p:cNvSpPr/>
          <p:nvPr/>
        </p:nvSpPr>
        <p:spPr>
          <a:xfrm>
            <a:off x="7462601" y="2953512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8221005" y="2953512"/>
            <a:ext cx="70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/ FLOP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400800" y="3200400"/>
            <a:ext cx="2542032" cy="237744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28232" y="3218688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binary_value</a:t>
            </a:r>
            <a:endParaRPr lang="en-US" sz="780" dirty="0"/>
          </a:p>
        </p:txBody>
      </p:sp>
      <p:sp>
        <p:nvSpPr>
          <p:cNvPr id="101" name="Text 99"/>
          <p:cNvSpPr/>
          <p:nvPr/>
        </p:nvSpPr>
        <p:spPr>
          <a:xfrm>
            <a:off x="7462601" y="3218688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8221005" y="3218688"/>
            <a:ext cx="70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1=HIT  0=FLOP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64592" y="4023360"/>
            <a:ext cx="2615184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6B7DB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164592" y="4023360"/>
            <a:ext cx="2615184" cy="338328"/>
          </a:xfrm>
          <a:prstGeom prst="rect">
            <a:avLst/>
          </a:prstGeom>
          <a:solidFill>
            <a:srgbClr val="6B7DB3"/>
          </a:solidFill>
          <a:ln w="12700">
            <a:solidFill>
              <a:srgbClr val="6B7DB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28600" y="403250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dim_date  (18 rows)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01168" y="4389120"/>
            <a:ext cx="2542032" cy="237744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28600" y="4407408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</a:t>
            </a:r>
            <a:endParaRPr lang="en-US" sz="780" dirty="0"/>
          </a:p>
        </p:txBody>
      </p:sp>
      <p:sp>
        <p:nvSpPr>
          <p:cNvPr id="108" name="Text 106"/>
          <p:cNvSpPr/>
          <p:nvPr/>
        </p:nvSpPr>
        <p:spPr>
          <a:xfrm>
            <a:off x="1262969" y="4407408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PK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01168" y="4654296"/>
            <a:ext cx="2542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28600" y="4672584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780" dirty="0"/>
          </a:p>
        </p:txBody>
      </p:sp>
      <p:sp>
        <p:nvSpPr>
          <p:cNvPr id="111" name="Text 109"/>
          <p:cNvSpPr/>
          <p:nvPr/>
        </p:nvSpPr>
        <p:spPr>
          <a:xfrm>
            <a:off x="1262969" y="4672584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2021373" y="4672584"/>
            <a:ext cx="70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2000-2026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201168" y="4919472"/>
            <a:ext cx="2542032" cy="237744"/>
          </a:xfrm>
          <a:prstGeom prst="rect">
            <a:avLst/>
          </a:prstGeom>
          <a:solidFill>
            <a:srgbClr val="EEF2FA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28600" y="4937760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</a:t>
            </a:r>
            <a:endParaRPr lang="en-US" sz="780" dirty="0"/>
          </a:p>
        </p:txBody>
      </p:sp>
      <p:sp>
        <p:nvSpPr>
          <p:cNvPr id="115" name="Text 113"/>
          <p:cNvSpPr/>
          <p:nvPr/>
        </p:nvSpPr>
        <p:spPr>
          <a:xfrm>
            <a:off x="1262969" y="4937760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2021373" y="4937760"/>
            <a:ext cx="70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2000/2010/2020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201168" y="5184648"/>
            <a:ext cx="2542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28600" y="5202936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780" dirty="0"/>
          </a:p>
        </p:txBody>
      </p:sp>
      <p:sp>
        <p:nvSpPr>
          <p:cNvPr id="119" name="Text 117"/>
          <p:cNvSpPr/>
          <p:nvPr/>
        </p:nvSpPr>
        <p:spPr>
          <a:xfrm>
            <a:off x="1262969" y="5202936"/>
            <a:ext cx="732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2021373" y="5202936"/>
            <a:ext cx="70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2000s/2010s/2020s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6364224" y="4023360"/>
            <a:ext cx="2615184" cy="640080"/>
          </a:xfrm>
          <a:prstGeom prst="rect">
            <a:avLst/>
          </a:prstGeom>
          <a:solidFill>
            <a:srgbClr val="FFF8EC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428232" y="40507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dw_metadata  (10 rows)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6428232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· source file · ETL version · partitioning strategy · created date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2779776" y="1645920"/>
            <a:ext cx="219456" cy="0"/>
          </a:xfrm>
          <a:prstGeom prst="line">
            <a:avLst/>
          </a:prstGeom>
          <a:noFill/>
          <a:ln w="19050">
            <a:solidFill>
              <a:srgbClr val="0B7A7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926080" y="159105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6144768" y="1463040"/>
            <a:ext cx="219456" cy="0"/>
          </a:xfrm>
          <a:prstGeom prst="line">
            <a:avLst/>
          </a:prstGeom>
          <a:noFill/>
          <a:ln w="19050">
            <a:solidFill>
              <a:srgbClr val="C8902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291072" y="140817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2779776" y="3200400"/>
            <a:ext cx="219456" cy="0"/>
          </a:xfrm>
          <a:prstGeom prst="line">
            <a:avLst/>
          </a:prstGeom>
          <a:noFill/>
          <a:ln w="19050">
            <a:solidFill>
              <a:srgbClr val="C84B3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651760" y="314553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6144768" y="2788920"/>
            <a:ext cx="219456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291072" y="273405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64592" y="4791456"/>
            <a:ext cx="8814816" cy="256032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37744" y="4800600"/>
            <a:ext cx="8668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operations: SLICE (by genre/era)  ·  DICE (genre x decade)  ·  DRILL-DOWN (era to year)  ·  RANKING (top artists by hit rate)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OLAP Analysis - Slice Operations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the fact table on genre and era dimensions  ·  ROLAP queries on music_warehouse.db (SQLite)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822960"/>
          <a:ext cx="4169664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200400"/>
          <a:ext cx="4169664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676656"/>
                <a:gridCol w="12984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Gospel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Afropop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Dancehall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 Hop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56032" y="3931920"/>
            <a:ext cx="4169664" cy="2377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9184" y="394106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SLICE: GROUP BY genre_name  ORDER BY hit_pct DESC</a:t>
            </a:r>
            <a:endParaRPr lang="en-US" sz="8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718304" y="822960"/>
          <a:ext cx="4169664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18304" y="3200400"/>
          <a:ext cx="41696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"/>
                <a:gridCol w="585216"/>
                <a:gridCol w="73152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2000s (2000-09)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2010s (2010-19)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2020s (2020-26)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4718304" y="3931920"/>
            <a:ext cx="4169664" cy="237744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791456" y="394106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SLICE: GROUP BY era  ORDER BY era</a:t>
            </a:r>
            <a:endParaRPr lang="en-US" sz="800" dirty="0"/>
          </a:p>
        </p:txBody>
      </p:sp>
      <p:sp>
        <p:nvSpPr>
          <p:cNvPr id="13" name="Shape 7"/>
          <p:cNvSpPr/>
          <p:nvPr/>
        </p:nvSpPr>
        <p:spPr>
          <a:xfrm>
            <a:off x="256032" y="4315968"/>
            <a:ext cx="8631936" cy="694944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347472" y="434340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Key Insights: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Gospel achieves 52.3% hit rate despite being only 3.2% of all tracks  ·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era (2010+) more than doubled hit rates vs pre-streaming era (18.5% to 39.7%)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OLAP - Rankings, Drill-Down &amp; ROLAP Cross-Tabulation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query (top artists)  ·  Drill-down (era to year)  ·  ROLAP dice (genre x decade)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7744" y="804672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Artists by Hit Rate  (min 5 tracks)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60704"/>
            <a:ext cx="4425696" cy="2724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3822192"/>
            <a:ext cx="4425696" cy="859536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3849624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- RANKING QUERY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56032" y="4050792"/>
            <a:ext cx="4279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artist_name, COUNT(*) total, SUM(label_key) hits,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ROUND(100.0*SUM(label_key)/COUNT(*),1) hit_pct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fact_predictions f JOIN dim_artist 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ON f.artist_key=a.artist_key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artist_name  HAVING total&gt;=5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hit_pct DESC  LIMIT 10;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773168" y="80467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Genre x Decade Cross-Tab  (ROLAP DICE)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078992"/>
          <a:ext cx="4160520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841248"/>
                <a:gridCol w="841248"/>
                <a:gridCol w="841248"/>
                <a:gridCol w="64922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Afropop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50/266 18.8%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312/819 38.1%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343/857 40.0%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Gospel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0/4 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25/38 65.8%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9/23 39.1%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Dancehall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 33.3%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 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 Hop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 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 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 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773168" y="315468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Drill-Down: Year-Level Hit Rates (selected peaks)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3429000"/>
          <a:ext cx="416052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822960"/>
                <a:gridCol w="658368"/>
                <a:gridCol w="1993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 (peak)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182880" y="4736592"/>
            <a:ext cx="8778240" cy="310896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Peak year: 2010 = 90.0% hit rate  ·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Gospel 2010s: 65.8% (best genre x decade cell)  ·  </a:t>
            </a:r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Sheebah: 20 tracks, 100% hit rate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Business Intelligence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173736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097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Gospel = Highest ROI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38988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52.3% hit rate, one Gospel track yields a better expected return than any other genre — despite being only 3.2% of total tracks.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64008" cy="1737360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1097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Era Doubled Returns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37176" y="138988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rates jumped from 18.5% (2000s) to 39.7% (2020s). YouTube, Boomplay, and Audiomack fundamentally changed what a Ugandan song can achieve.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64008" cy="1737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30632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Top-Tier Artist Cohort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" y="335584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Sheebah, John Blaq, Juliana Kanyomozi, and Radio &amp; Weasel each achieve 100% hit rates — the lowest-risk collaboration targets for labels.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64008" cy="17373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30632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B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HITs are more danceable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7176" y="335584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 proxy scores and sentiment compound are both marginally higher in HITs, confirming rhythmically engaging, emotionally positive tracks perform better.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artists, label executives, and future research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3840480"/>
          </a:xfrm>
          <a:prstGeom prst="rect">
            <a:avLst/>
          </a:prstGeom>
          <a:solidFill>
            <a:srgbClr val="EEF2F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5029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Artists &amp; Producers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danceability and rhythmic complexity in production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Gospel artists should target streaming-native platforms (Boomplay, YouTube Music)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timing: Q1 and Q3 show historically higher engagement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3840480"/>
          </a:xfrm>
          <a:prstGeom prst="rect">
            <a:avLst/>
          </a:prstGeom>
          <a:solidFill>
            <a:srgbClr val="EEF2FA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502920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Label Executives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hit-rate ranking table to guide signing and collaboration budgets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monthly warehouse updates with a 60-day labelling window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Luganda sentiment lexicon — current VADER zeroes Luganda lyrics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651760" cy="3840480"/>
          </a:xfrm>
          <a:prstGeom prst="rect">
            <a:avLst/>
          </a:prstGeom>
          <a:solidFill>
            <a:srgbClr val="EEF2FA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005840"/>
            <a:ext cx="2651760" cy="50292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Future Research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genre taxonomy with audio-based clustering (beyond keyword inference)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TikTok virality and Instagram reels as additional fact measures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quarterly automated retraining to keep hit prediction current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8288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 the warehouse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8288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15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682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track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18288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15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52.3%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682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Gospel hit rate (top genre)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097280"/>
            <a:ext cx="18288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115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75120" y="1682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— Sheebah (top artist)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SQLite warehouse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pipeline (extract → transform → load)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OLAP query types (slice, dice, drill-down, cross-tab, ranking)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for decision support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6517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structured DW for Ugandan music analytics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top artists, genres, and commercial patterns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evidence-based label signing decisions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as new music is released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681728"/>
            <a:ext cx="7315200" cy="0"/>
          </a:xfrm>
          <a:prstGeom prst="line">
            <a:avLst/>
          </a:prstGeom>
          <a:noFill/>
          <a:ln w="6350">
            <a:solidFill>
              <a:srgbClr val="C890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73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  ·  IST 3201 — Makerere University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 &amp; Related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global and African music analytics research tells 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Music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and Billboard researchers have used audio features (tempo, danceability, energy) to predict chart success with up to 70% accuracy in Western markets.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</a:rPr>
              <a:t>African music BI remains critically understudied. Nigeria’s Afrobeats and South Africa’s Amapiano have attracted commercial dashboards, but Uganda’s genre landscape has no equivalent analytical framework.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</a:rPr>
              <a:t>Kimball’s dimensional modelling and Inmon’s enterprise DW approaches both validate the star schema as the gold standard for BI workloads involving fact and dimension separation.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60520" cy="3383280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DW study on Ugandan music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VADER not trained on Luganda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No genre taxonomy for Ugandan Afropop subgenres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No OLAP implementation for East African music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Streaming platforms lack public hit/flop labelling APIs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 &amp; Preprocessing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658368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Missing Artists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1124712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tracks had no artist metadata. Filled with “Unknown Artist” surrogate to preserve FK integrity — not dropped, since audio/lyric features remain valid for analysis.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19656"/>
            <a:ext cx="850392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19656"/>
            <a:ext cx="54864" cy="658368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928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Genre Inference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892808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genre tags existed in the raw data. Keyword rules on song titles and artist names were applied to assign Afropop, Gospel, Dancehall, or Hip Hop. Limitation: this is rule-based, not audio-based clustering.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587752"/>
            <a:ext cx="850392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87752"/>
            <a:ext cx="54864" cy="6583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6090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Hit/Flop Labelling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2660904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labelled HIT if YouTube views exceeded a genre-relative threshold within 60 days of release. Binary label (1=HIT, 0=FLOP) stored in dim_label — enables clear OLAP slicing.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355848"/>
            <a:ext cx="850392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55848"/>
            <a:ext cx="54864" cy="65836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290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B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Sentiment Scoring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429000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transcribed audio to text; VADER assigned compound sentiment scores. Luganda lyrics score near zero — a known limitation flagged for future Luganda lexicon development.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123944"/>
            <a:ext cx="850392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123944"/>
            <a:ext cx="54864" cy="658368"/>
          </a:xfrm>
          <a:prstGeom prst="rect">
            <a:avLst/>
          </a:prstGeom>
          <a:solidFill>
            <a:srgbClr val="6B7DB3"/>
          </a:solidFill>
          <a:ln w="12700">
            <a:solidFill>
              <a:srgbClr val="6B7D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9709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D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Era Mapping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4197096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grouped into 2000s, 2010s, 2020s eras to enable decade-level OLAP drill-downs. This mapping lives in dim_date and supports both era-level and year-level granularity in the same schema.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Dashboard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173736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097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0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 Rate by Genre Page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38988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comparing hit rates across Gospel, Afropop, Dancehall, and Hip Hop. Gospel bar highlighted gold. Slicer by era allows dynamic filtering by 2000s, 2010s, or 2020s.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64008" cy="1737360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1097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Artist Hit Rate Leaderboard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37176" y="138988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table of top 10 artists by hit rate (min 5 tracks). Sheebah leads at 100%. Drill-through enabled — click any artist to see their full track list and feature breakdowns.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64008" cy="1737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30632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 Line: Hit Rate by Year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" y="335584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from 2000 to 2026 showing hit rate per year. Peak at 2010 (90%). Genre filter slicer lets users isolate Gospel vs Afropop trajectory over two decades.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64008" cy="17373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30632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B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Feature Scatter Plot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7176" y="335584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of danceability proxy vs sentiment compound, coloured by HIT/FLOP label. HITs cluster in the high-danceability, positive-sentiment quadrant — visible separation from FLOPs.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02B"/>
          </a:solidFill>
          <a:ln w="12700">
            <a:solidFill>
              <a:srgbClr val="C8902B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20040" y="2926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6F"/>
                </a:solidFill>
                <a:latin typeface="Trebuchet MS" pitchFamily="34" charset="0"/>
              </a:rPr>
              <a:t>Limitations &amp; Future Work</a:t>
            </a:r>
          </a:p>
        </p:txBody>
      </p:sp>
      <p:sp>
        <p:nvSpPr>
          <p:cNvPr id="4" name="Subtitle"/>
          <p:cNvSpPr/>
          <p:nvPr/>
        </p:nvSpPr>
        <p:spPr>
          <a:xfrm>
            <a:off x="320040" y="868680"/>
            <a:ext cx="85039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B3"/>
                </a:solidFill>
                <a:latin typeface="Calibri" pitchFamily="34" charset="0"/>
              </a:rPr>
              <a:t>Honest boundaries of the current study  and the roadmap to a stronger next version</a:t>
            </a:r>
          </a:p>
        </p:txBody>
      </p:sp>
      <p:sp>
        <p:nvSpPr>
          <p:cNvPr id="5" name="LimBox"/>
          <p:cNvSpPr/>
          <p:nvPr/>
        </p:nvSpPr>
        <p:spPr>
          <a:xfrm>
            <a:off x="320040" y="1240000"/>
            <a:ext cx="4100000" cy="3650000"/>
          </a:xfrm>
          <a:prstGeom prst="rect">
            <a:avLst/>
          </a:prstGeom>
          <a:solidFill>
            <a:srgbClr val="1A2E6F"/>
          </a:solidFill>
          <a:ln w="12700">
            <a:solidFill>
              <a:srgbClr val="1A2E6F"/>
            </a:solidFill>
            <a:prstDash val="solid"/>
          </a:ln>
        </p:spPr>
      </p:sp>
      <p:sp>
        <p:nvSpPr>
          <p:cNvPr id="6" name="LimHead"/>
          <p:cNvSpPr/>
          <p:nvPr/>
        </p:nvSpPr>
        <p:spPr>
          <a:xfrm>
            <a:off x="500000" y="1310000"/>
            <a:ext cx="37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02B"/>
                </a:solidFill>
                <a:latin typeface="Trebuchet MS" pitchFamily="34" charset="0"/>
              </a:rPr>
              <a:t>Current Limitations</a:t>
            </a:r>
          </a:p>
        </p:txBody>
      </p:sp>
      <p:sp>
        <p:nvSpPr>
          <p:cNvPr id="7" name="LimBody"/>
          <p:cNvSpPr/>
          <p:nvPr/>
        </p:nvSpPr>
        <p:spPr>
          <a:xfrm>
            <a:off x="500000" y="1680000"/>
            <a:ext cx="3700000" cy="3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Genre labels are keyword-based, not audio-cluster-based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VADER sentiment zeroes Luganda lyrics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Dancehall and Hip Hop samples too small for reliable conclusions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Hit/flop threshold is view-count based — does not capture offline radio play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Warehouse is static — no automated update pipeline yet</a:t>
            </a:r>
          </a:p>
        </p:txBody>
      </p:sp>
      <p:sp>
        <p:nvSpPr>
          <p:cNvPr id="8" name="FutBox"/>
          <p:cNvSpPr/>
          <p:nvPr/>
        </p:nvSpPr>
        <p:spPr>
          <a:xfrm>
            <a:off x="4600000" y="1240000"/>
            <a:ext cx="4160520" cy="3650000"/>
          </a:xfrm>
          <a:prstGeom prst="rect">
            <a:avLst/>
          </a:prstGeom>
          <a:solidFill>
            <a:srgbClr val="F0F4FF"/>
          </a:solidFill>
          <a:ln w="25400">
            <a:solidFill>
              <a:srgbClr val="1A2E6F"/>
            </a:solidFill>
            <a:prstDash val="solid"/>
          </a:ln>
        </p:spPr>
      </p:sp>
      <p:sp>
        <p:nvSpPr>
          <p:cNvPr id="9" name="FutHead"/>
          <p:cNvSpPr/>
          <p:nvPr/>
        </p:nvSpPr>
        <p:spPr>
          <a:xfrm>
            <a:off x="4780000" y="1310000"/>
            <a:ext cx="38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6F"/>
                </a:solidFill>
                <a:latin typeface="Trebuchet MS" pitchFamily="34" charset="0"/>
              </a:rPr>
              <a:t>Future Research Directions</a:t>
            </a:r>
          </a:p>
        </p:txBody>
      </p:sp>
      <p:sp>
        <p:nvSpPr>
          <p:cNvPr id="10" name="FutBody"/>
          <p:cNvSpPr/>
          <p:nvPr/>
        </p:nvSpPr>
        <p:spPr>
          <a:xfrm>
            <a:off x="4780000" y="1680000"/>
            <a:ext cx="3800000" cy="3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</a:rPr>
              <a:t>Build a Luganda-specific sentiment lexicon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</a:rPr>
              <a:t>Replace keyword genre inference with audio clustering (k-means or HDBSCAN)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</a:rPr>
              <a:t>Integrate TikTok and Instagram Reels virality as additional fact measures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</a:rPr>
              <a:t>Add offline radio play data from local FM station monitoring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</a:rPr>
              <a:t>Automate quarterly ETL refresh with 60-day labelling window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Analytics Data Warehouse</dc:title>
  <dc:subject>PptxGenJS Presentation</dc:subject>
  <dc:creator>Makerere University — IST 3201</dc:creator>
  <cp:lastModifiedBy>Makerere University — IST 3201</cp:lastModifiedBy>
  <cp:revision>1</cp:revision>
  <dcterms:created xsi:type="dcterms:W3CDTF">2026-05-16T07:15:05Z</dcterms:created>
  <dcterms:modified xsi:type="dcterms:W3CDTF">2026-05-16T07:15:05Z</dcterms:modified>
</cp:coreProperties>
</file>